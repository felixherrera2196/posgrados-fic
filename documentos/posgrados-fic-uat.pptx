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dirigida a estudiantes de licenciatura. Mensaje de invitación basado en objetivos académicos, sin prometer empleo, admisión ni beca.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Beneficios formativos propuestos a partir de los perfiles y mecanismos de vinculación de la FIC. Las oportunidades dependen del programa y del proyecto. Becas: https://www.secihti.mx/wp-content/uploads/2026/02/TDR_BP_A_2026-20260223T161734.pdf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siglas MCID, MCSAMA y DCSAMA se utilizan en las diapositivas siguientes. Fuentes: las cuatro páginas oficiales indicadas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 oficial: https://www.secihti.mx/wp-content/uploads/2026/02/TABBN-26-20260223T230839.pdf</a:t>
            </a:r>
          </a:p>
          <a:p>
            <a:r>
              <a:t>Montos por nivel, no una confirmación de beca para los cuatro programas FIC. La asignación requiere cumplir la convocatoria y que el programa sea elegible. El valor se actualiza conforme a la UMA. Consulta realizada el 14 de octubre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https://www.secihti.mx/wp-content/uploads/2026/02/TDR_BP_A_2026-20260223T161734.pdf</a:t>
            </a:r>
          </a:p>
          <a:p>
            <a:r>
              <a:t>La admisión académica y la asignación de beca son procesos distintos. No se verificó en el padrón la elegibilidad actual de cada programa FIC. Evitar ofrecer la beca como automática o multiplicar el monto por toda la duración como un total garantizado. Convocatoria: https://www.secihti.mx/convocatoria/becas-nacionales/convocatoria-de-becas-nacionales-para-estudios-de-posgrado-2026/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perfil también destaca razonamiento lógico, expresión escrita, trabajo en equipo, responsabilidad e innovación.</a:t>
            </a:r>
          </a:p>
          <a:p>
            <a:r>
              <a:t>Mensaje de invitación: Enfócate en crear aplicaciones y soluciones de comunicación.</a:t>
            </a:r>
          </a:p>
          <a:p/>
          <a:p>
            <a:r>
              <a:t>Fuente FIC: https://fic.uat.edu.mx/ofertaacademica/especialidad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fuente presenta una inconsistencia: el texto menciona 8 materias, pero la tabla enumera 8 obligatorias y una optativa. Las 720 horas y 45 créditos coinciden con las obligatorias; confirmar con la coordinación cómo se contabiliza la optativa. Por ello, no se afirma un total de cursos en la diapositiva.</a:t>
            </a:r>
          </a:p>
          <a:p/>
          <a:p>
            <a:r>
              <a:t>Fuente FIC: https://fic.uat.edu.mx/ofertaacademica/especialidad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formación se complementa con una actitud emprendedora, innovadora, ética y de respeto al medio ambiente.</a:t>
            </a:r>
          </a:p>
          <a:p/>
          <a:p>
            <a:r>
              <a:t>Fuente FIC: https://fic.uat.edu.mx/ofertaacademica/especialidad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perfil también solicita pensamiento crítico, interés por investigar, comunicación, trabajo en equipo y capacidad para desarrollar metodologías de solución.</a:t>
            </a:r>
          </a:p>
          <a:p>
            <a:r>
              <a:t>Mensaje de invitación: Convierte datos en modelos y decisiones.</a:t>
            </a:r>
          </a:p>
          <a:p/>
          <a:p>
            <a:r>
              <a:t>Fuente FIC: https://fic.uat.edu.mx/ofertaacademica/MCID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núcleo básico ofrece, entre otras, Análisis Exploratorio de Datos, Análisis y Diseño de Algoritmos, Minería de Datos e Inteligencia Artificial. La tabla publica 77 créditos, pero incluye subtotales que no concuerdan con sus filas; conviene confirmar el total antes de presentarlo como carga definitiva.</a:t>
            </a:r>
          </a:p>
          <a:p/>
          <a:p>
            <a:r>
              <a:t>Fuente FIC: https://fic.uat.edu.mx/ofertaacademica/MCID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ejemplos proceden de la sección de tesis presentadas de la página. Se resumen sus temas; no se presentan como asignaturas ni como vacantes laborales.</a:t>
            </a:r>
          </a:p>
          <a:p/>
          <a:p>
            <a:r>
              <a:t>Fuente FIC: https://fic.uat.edu.mx/ofertaacademica/MCID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perfil también destaca comunicación, uso de cómputo, análisis y síntesis, observación, redacción y responsabilidad social.</a:t>
            </a:r>
          </a:p>
          <a:p>
            <a:r>
              <a:t>Mensaje de invitación: Investiga cómo producir y conservar de manera sustentable.</a:t>
            </a:r>
          </a:p>
          <a:p/>
          <a:p>
            <a:r>
              <a:t>Fuente FIC: https://fic.uat.edu.mx/ofertaacademica/MCSAMA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tabla totaliza 10 cursos y es coherente con la descripción del programa personalizado. Un párrafo previo dice «4 materias» e incluye erróneamente dentro de ellas 6 seminarios. Se utiliza la estructura respaldada por la tabla. Se contemplan seminarios de verano.</a:t>
            </a:r>
          </a:p>
          <a:p/>
          <a:p>
            <a:r>
              <a:t>Fuente FIC: https://fic.uat.edu.mx/ofertaacademica/MCSAMA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Ejemplos del catálogo: Fisiología Vegetal, Nutrición Animal, Conservación de Suelos y Agua, Química Ambiental y Tecnología Ambiental: Biorremediación. La selección depende del programa personalizado y su línea de investigación.</a:t>
            </a:r>
          </a:p>
          <a:p/>
          <a:p>
            <a:r>
              <a:t>Fuente FIC: https://fic.uat.edu.mx/ofertaacademica/MCSAMA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objetivo incorpora la divulgación de resultados a distintos sectores y la atención a necesidades científicas y laborales de Tamaulipas y del país.</a:t>
            </a:r>
          </a:p>
          <a:p>
            <a:r>
              <a:t>Mensaje de invitación: Proyecta tu trayectoria hacia el liderazgo científico.</a:t>
            </a:r>
          </a:p>
          <a:p/>
          <a:p>
            <a:r>
              <a:t>Fuente FIC: https://fic.uat.edu.mx/ofertaacademica/DCSAMA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13 cursos incluyen seminarios de verano. Ejemplos del catálogo: Fisiología Vegetal Avanzada, Nutrición de Rumiantes, Química Ambiental Avanzada y Métodos Estadísticos Avanzados. El nombre completo de la tercera línea es Monitoreo, Evaluación y Gestión Ambiental para el Desarrollo Sustentable.</a:t>
            </a:r>
          </a:p>
          <a:p/>
          <a:p>
            <a:r>
              <a:t>Fuente FIC: https://fic.uat.edu.mx/ofertaacademica/DCSAMA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maestría enfatiza la participación en investigación; el doctorado destaca la dirección, coordinación y administración de líneas de investigación. Esta distinción procede de los perfiles de egreso publicados.</a:t>
            </a:r>
          </a:p>
          <a:p/>
          <a:p>
            <a:r>
              <a:t>Fuente FIC: https://fic.uat.edu.mx/ofertaacademica/DCSAMA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 la aplicación del proyecto y su conexión con los intereses de estudiantes de licenciatura. Los títulos están abreviados para facilitar la lectura. Los años corresponden a los campos de las tablas originales; en MCID se identifica el año de ingreso. Invita al público a imaginar qué problema le gustaría investigar y a conversar con la coordinación sobre sus intereses.</a:t>
            </a:r>
          </a:p>
          <a:p/>
          <a:p>
            <a:r>
              <a:t>Fuente FIC: https://fic.uat.edu.mx/ofertaacademica/MCSAMA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 la aplicación del proyecto y su conexión con los intereses de estudiantes de licenciatura. Los títulos están abreviados para facilitar la lectura. Los años corresponden a los campos de las tablas originales; en MCID se identifica el año de ingreso. Invita al público a imaginar qué problema le gustaría investigar y a conversar con la coordinación sobre sus intereses.</a:t>
            </a:r>
          </a:p>
          <a:p/>
          <a:p>
            <a:r>
              <a:t>Fuente FIC: https://fic.uat.edu.mx/ofertaacademica/DCSAMA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 la aplicación del proyecto y su conexión con los intereses de estudiantes de licenciatura. Los títulos están abreviados para facilitar la lectura. Los años corresponden a los campos de las tablas originales; en MCID se identifica el año de ingreso. Invita al público a imaginar qué problema le gustaría investigar y a conversar con la coordinación sobre sus intereses.</a:t>
            </a:r>
          </a:p>
          <a:p/>
          <a:p>
            <a:r>
              <a:t>Fuente FIC: https://fic.uat.edu.mx/ofertaacademica/MCSAMA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 la aplicación del proyecto y su conexión con los intereses de estudiantes de licenciatura. Los títulos están abreviados para facilitar la lectura. Los años corresponden a los campos de las tablas originales; en MCID se identifica el año de ingreso. Invita al público a imaginar qué problema le gustaría investigar y a conversar con la coordinación sobre sus intereses.</a:t>
            </a:r>
          </a:p>
          <a:p/>
          <a:p>
            <a:r>
              <a:t>Fuente FIC: https://fic.uat.edu.mx/ofertaacademica/MCSAMA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 la aplicación del proyecto y su conexión con los intereses de estudiantes de licenciatura. Los títulos están abreviados para facilitar la lectura. Los años corresponden a los campos de las tablas originales; en MCID se identifica el año de ingreso. Invita al público a imaginar qué problema le gustaría investigar y a conversar con la coordinación sobre sus intereses.</a:t>
            </a:r>
          </a:p>
          <a:p/>
          <a:p>
            <a:r>
              <a:t>Fuente FIC: https://fic.uat.edu.mx/ofertaacademica/especialidad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 la aplicación del proyecto y su conexión con los intereses de estudiantes de licenciatura. Los títulos están abreviados para facilitar la lectura. Los años corresponden a los campos de las tablas originales; en MCID se identifica el año de ingreso. Invita al público a imaginar qué problema le gustaría investigar y a conversar con la coordinación sobre sus intereses.</a:t>
            </a:r>
          </a:p>
          <a:p/>
          <a:p>
            <a:r>
              <a:t>Fuente FIC: https://fic.uat.edu.mx/ofertaacademica/MCID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Orientación editorial basada en los objetivos y perfiles publicados. La admisión depende de la convocatoria y del proceso de selección de cada programa; esta comparación no sustituye sus requisitos.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Contactos tomados de los archivos proporcionados. Las páginas enlazan una convocatoria 2026 y un anexo, pero su contenido no está incluido en los archivos; no se afirman fechas ni requisitos documentales específicos.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FIC:</a:t>
            </a:r>
          </a:p>
          <a:p>
            <a:r>
              <a:t>https://fic.uat.edu.mx/ofertaacademica/especialidad</a:t>
            </a:r>
          </a:p>
          <a:p>
            <a:r>
              <a:t>https://fic.uat.edu.mx/ofertaacademica/MCID</a:t>
            </a:r>
          </a:p>
          <a:p>
            <a:r>
              <a:t>https://fic.uat.edu.mx/ofertaacademica/MCSAMA</a:t>
            </a:r>
          </a:p>
          <a:p>
            <a:r>
              <a:t>https://fic.uat.edu.mx/ofertaacademica/DCSAMA</a:t>
            </a:r>
          </a:p>
          <a:p>
            <a:r>
              <a:t>Tabulador: https://www.secihti.mx/wp-content/uploads/2026/02/TABBN-26-20260223T230839.pdf</a:t>
            </a:r>
          </a:p>
          <a:p>
            <a:r>
              <a:t>Términos: https://www.secihti.mx/wp-content/uploads/2026/02/TDR_BP_A_2026-20260223T161734.pdf</a:t>
            </a:r>
          </a:p>
          <a:p>
            <a:r>
              <a:t>Convocatoria: https://www.secihti.mx/convocatoria/becas-nacionales/convocatoria-de-becas-nacionales-para-estudios-de-posgrado-2026/</a:t>
            </a:r>
          </a:p>
          <a:p>
            <a:r>
              <a:t>Verificación de becas: 14 de octubre de 2026. Se conservan en las notas las inconsistencias de materias y créditos detectadas en las páginas originales.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01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11064240" cy="3886200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Posgrados de la Facultad de Ingeniería y Ciencias · UAT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FFFFFF"/>
                </a:solidFill>
                <a:latin typeface="Aptos"/>
              </a:defRPr>
            </a:pPr>
            <a:r>
              <a:t>Especialízate, investiga y trabaja en problemas de tu entorno.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FFFFFF"/>
                </a:solidFill>
                <a:latin typeface="Aptos"/>
              </a:defRPr>
            </a:pPr>
            <a:r>
              <a:t>4 programas presenciales · tecnología, datos, agro y ambiente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¿Qué puedes ganar con un posgrado?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02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38528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38528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Profundidad: dominar herramientas de un área que te interese.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03804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03804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4388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Experiencia: desarrollar una tesis, tesina o proyecto con acompañamiento académico.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69080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069080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69664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Conexiones: colaborar con investigadores y acercarte a problemas de sectores públicos y privados.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34356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134356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34940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Apoyo económico: explorar las becas SECIHTI para programas elegibles.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Cuatro opciones de formación presencial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03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38528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38528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Especialidad en Telecomunicaciones e Informática: 1 año.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03804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03804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4388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Maestría en Ciencias e Ingeniería de Datos (MCID): 2 años.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69080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069080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69664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Maestría en Ciencias, Sistemas Agropecuarios y Medio Ambiente (MCSAMA): 2 años / 4 semestres.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34356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134356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34940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Doctorado en Ciencias, Sistemas Agropecuarios y Medio Ambiente (DCSAMA): 3 años / 6 semestres.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Becas SECIHTI: apoyo mensual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04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3520440" cy="2468880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7B77A"/>
                </a:solidFill>
                <a:latin typeface="Aptos"/>
              </a:defRPr>
            </a:pPr>
            <a:r>
              <a:t>ESPECIALIDAD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$14,264.88</a:t>
            </a:r>
          </a:p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MXN / 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2286000"/>
            <a:ext cx="3520440" cy="2468880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25603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7B77A"/>
                </a:solidFill>
                <a:latin typeface="Aptos"/>
              </a:defRPr>
            </a:pPr>
            <a:r>
              <a:t>MAESTRÍA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20040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$16,047.99</a:t>
            </a:r>
          </a:p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MXN / 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286000"/>
            <a:ext cx="3520440" cy="2468880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7B77A"/>
                </a:solidFill>
                <a:latin typeface="Aptos"/>
              </a:defRPr>
            </a:pPr>
            <a:r>
              <a:t>DOCTORADO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$21,397.32</a:t>
            </a:r>
          </a:p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MXN / 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74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Montos del tabulador vigente desde el 1 de febrero de 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A70"/>
                </a:solidFill>
                <a:latin typeface="Aptos"/>
              </a:defRPr>
            </a:pPr>
            <a:r>
              <a:t>Montos de referencia; sujetos a elegibilidad del programa y asignación.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¿Cómo explorar la opción de beca?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05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38528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38528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Pregunta a la coordinación por la elegibilidad vigente del programa en el Sistema Nacional de Posgrados.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03804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03804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4388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Revisa la convocatoria SECIHTI y completa la postulación y formalización correspondientes.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69080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069080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69664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La beca contempla manutención mensual y servicio médico del ISSSTE conforme a sus disposiciones.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34356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134356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34940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La vigencia y el apoyo autorizado se establecen en la carta de asignación.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Especialidad: objetivo y perfil de ingreso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06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11064240" cy="694944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1 año · presencial | Beca mensual de referencia 2026: $14,264.88 MXN; sujeta a elegibilidad y asignación.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2491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2491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Formar especialistas en aplicaciones para tecnología móvil y sistemas empotrados.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9359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59359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Generar conocimiento sobre comunicación inalámbrica en entornos fijos y móviles.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6227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6227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6285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Dirigida a egresados de Informática, Comunicaciones y Electrónica, Telemática y áreas afines.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3095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33095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3153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Requiere comprensión de inglés, bases de comunicaciones y manejo de modelos de ingeniería de software.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Especialidad: plan de estudios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07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11064240" cy="694944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1 año · presencial | Beca mensual de referencia 2026: $14,264.88 MXN; sujeta a elegibilidad y asignación.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24912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24912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Duración: 1 año · modalidad presencial · área: Ingeniería y Tecnología.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19856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419856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Carga publicada: 720 horas y 45 créditos.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14800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114800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Asignaturas: Programación Orientada a Objetos, Administración de Proyectos de Software y Métodos Matemáticos.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09744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809744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10328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Formación en transmisión inalámbrica, aplicaciones móviles, seguridad y metodología de investigación.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504688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504688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05272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Optativas en tecnología móvil, información geográfica móvil o agentes de software.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Especialidad: capacidades del egresado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08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11064240" cy="694944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1 año · presencial | Beca mensual de referencia 2026: $14,264.88 MXN; sujeta a elegibilidad y asignación.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2491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2491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Comprender los principales sistemas de comunicación inalámbrica.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9359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59359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Diseñar, planificar y gestionar proyectos y desarrollo de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6227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6227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6285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Generar políticas, aplicaciones y sistemas de cómputo seguro.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3095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33095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3153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Aplicar bases metodológicas de investigación, aprendizaje continuo y trabajo en equipo.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MCID: objetivo y perfil de ingreso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09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11064240" cy="694944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2 años · presencial | Beca mensual de referencia 2026: $16,047.99 MXN; sujeta a elegibilidad y asignación.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2491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2491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Formar expertos en minería de datos e inteligencia artificial mediante investigación innovadora.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9359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59359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Desarrollar algoritmos y herramientas analíticas para modelar patrones y construir sistemas basados en conocimiento.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6227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6227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6285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Dirigida a egresados de informática, sistemas, telemática, TI, electrónica, mecatrónica, física, matemáticas y áreas afines.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3095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33095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3153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Se esperan conocimientos de algoritmos, estadística, bases de datos, redes, software y programación.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MCID: formación y líneas de investigación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10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11064240" cy="694944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2 años · presencial | Beca mensual de referencia 2026: $16,047.99 MXN; sujeta a elegibilidad y asignación.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24912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24912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Duración: 2 años · modalidad presencial · plan flexible.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19856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419856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Líneas de Generación y Aplicación del Conocimiento: Minería de Datos e Inteligencia Artificial.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14800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114800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Estructura: 4 materias básicas, 4 optativas y una de Tópicos Selectos.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09744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809744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10328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Investigación: 2 seminarios de investigación y 3 seminarios de tesis.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504688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504688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05272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Ejemplos de materias: aprendizaje automático, redes neuronales, minería de texto y reconocimiento de patrones.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MCID: capacidades y aplicaciones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11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11064240" cy="694944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2 años · presencial | Beca mensual de referencia 2026: $16,047.99 MXN; sujeta a elegibilidad y asignación.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2491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2491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Investigar y proponer soluciones de gestión y procesamiento de datos.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9359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59359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Aplicar minería de datos e inteligencia artificial para mejorar sistemas y apoyar decisiones.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6227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6227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6285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Incorporarse a docencia, investigación y organizaciones públicas o privadas.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3095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33095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3153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Ejemplos de tesis publicadas: grafos de conocimiento, análisis de sentimientos y minería de procesos.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MCSAMA: objetivo y perfil de ingreso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12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11064240" cy="694944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2 años / 4 semestres · presencial | Beca mensual de referencia 2026: $16,047.99 MXN; sujeta a elegibilidad y asignación.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2491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2491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Formar recursos humanos para investigar problemas agropecuarios, ambientales y de recursos naturales.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9359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59359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Impulsar la producción agropecuaria, la conservación y la sustentabilidad.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6227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6227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6285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Dirigida a egresados de Agronomía, Biología, Medicina Veterinaria, Ciencias Ambientales y áreas afines.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3095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33095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3153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Se esperan bases avanzadas de biología, bioquímica y fisiología, pensamiento crítico e interés por investigar.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MCSAMA: plan y líneas de investigación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13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11064240" cy="694944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2 años / 4 semestres · presencial | Beca mensual de referencia 2026: $16,047.99 MXN; sujeta a elegibilidad y asignación.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24912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24912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Duración: 2 años / 4 semestres · modalidad presencial · mínimo de 76 créditos.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19856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419856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Programa personalizado: 4 materias disciplinarias y 6 seminarios de investigación.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14800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114800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Línea: Sistemas de Producción Agrícola Sustentable.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09744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809744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10328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Línea: Sistemas de Producción Pecuaria Sustentable.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504688"/>
            <a:ext cx="11064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504688"/>
            <a:ext cx="50292" cy="576072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05272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Línea: Monitoreo, Evaluación y Gestión Ambiental para el Desarrollo Sustentable.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MCSAMA: capacidades del egresado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14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11064240" cy="694944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2 años / 4 semestres · presencial | Beca mensual de referencia 2026: $16,047.99 MXN; sujeta a elegibilidad y asignación.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2491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2491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Participar en investigación básica y aplicada en áreas agropecuarias y ambientales.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9359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59359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Diagnosticar y solucionar problemas de producción agrícola o pecuaria con criterios de sustentabilidad.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6227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6227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6285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Participar en programas de investigación y conservación del ambiente y los recursos naturales.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3095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33095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3153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Comunicar resultados con actitud analítica, ética y responsabilidad social.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DCSAMA: objetivo y perfil de ingreso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15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11064240" cy="694944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3 años / 6 semestres · presencial | Beca mensual de referencia 2026: $21,397.32 MXN; sujeta a elegibilidad y asignación.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2491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2491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Formar especialistas capaces de diseñar investigación original y ampliar las fronteras del conocimiento.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9359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59359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Desarrollar soluciones para producción agropecuaria, conservación ambiental y recursos naturales.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6227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6227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6285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Dirigido a egresados de maestrías relacionadas con Agronomía, Biología, Medicina Veterinaria, Ciencias Ambientales y áreas afines.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3095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33095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3153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Se esperan conocimientos avanzados, capacidad metodológica, pensamiento crítico y comunicación científica.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DCSAMA: plan y líneas de investigación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16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11064240" cy="694944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3 años / 6 semestres · presencial | Beca mensual de referencia 2026: $21,397.32 MXN; sujeta a elegibilidad y asignación.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2491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2491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Duración: 3 años / 6 semestres · modalidad presencial · mínimo de 150 créditos.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9359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59359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Programa personalizado: 4 materias disciplinarias y 9 seminarios de investigación.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6227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6227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6285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Desarrollo de investigación básica y aplicada, tesis y escritura de artículos científicos.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3095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33095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3153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Comparte tres líneas: producción agrícola sustentable, producción pecuaria sustentable y monitoreo, evaluación y gestión ambiental.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DCSAMA: capacidades y vinculación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17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11064240" cy="694944"/>
          </a:xfrm>
          <a:prstGeom prst="rect">
            <a:avLst/>
          </a:prstGeom>
          <a:solidFill>
            <a:srgbClr val="163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3 años / 6 semestres · presencial | Beca mensual de referencia 2026: $21,397.32 MXN; sujeta a elegibilidad y asignación.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2491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2491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Dirigir, coordinar y administrar líneas de investigación básica y aplicada.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9359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59359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Diseñar programas para el manejo sustentable de sistemas productivos y ecosistemas.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6227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6227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6285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Divulgar resultados con liderazgo, responsabilidad social y ética profesional.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30952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330952"/>
            <a:ext cx="50292" cy="74980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31536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Vinculación mediante proyectos, asesoría a productores, demostraciones de campo e intercambios académicos.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Agronomía: cultivos y uso del agua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18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07D31"/>
                </a:solidFill>
                <a:latin typeface="Aptos"/>
              </a:defRPr>
            </a:pPr>
            <a:r>
              <a:t>AGUA PARA PRODUCIR CÍTRICOS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943"/>
                </a:solidFill>
                <a:latin typeface="Aptos"/>
              </a:defRPr>
            </a:pPr>
            <a:r>
              <a:t>Uso eficiente del agua y fertilización en naranja Marrs, en Padilla, Tamaulipas.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53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A70"/>
                </a:solidFill>
                <a:latin typeface="Aptos"/>
              </a:defRPr>
            </a:pPr>
            <a:r>
              <a:t>Manuel Salvador López Medina · MCSAMA ·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8523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3943"/>
                </a:solidFill>
                <a:latin typeface="Aptos"/>
              </a:defRPr>
            </a:pPr>
            <a:r>
              <a:t>Lo que puedes explorar: Investigar el manejo de recursos en la producción agrícola.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539496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6771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07D31"/>
                </a:solidFill>
                <a:latin typeface="Aptos"/>
              </a:defRPr>
            </a:pPr>
            <a:r>
              <a:t>CHILE Y BIOTECNOLOGÍA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01752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943"/>
                </a:solidFill>
                <a:latin typeface="Aptos"/>
              </a:defRPr>
            </a:pPr>
            <a:r>
              <a:t>Micropropagación de chile jalapeño mediante capas delgadas de células.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53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A70"/>
                </a:solidFill>
                <a:latin typeface="Aptos"/>
              </a:defRPr>
            </a:pPr>
            <a:r>
              <a:t>Ana Cecilia Alcalá Hernández · MCSAMA · 2022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28523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3943"/>
                </a:solidFill>
                <a:latin typeface="Aptos"/>
              </a:defRPr>
            </a:pPr>
            <a:r>
              <a:t>Lo que puedes explorar: Explorar técnicas de propagación vegetal.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Agronomía: sanidad y agricultura de precisión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19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07D31"/>
                </a:solidFill>
                <a:latin typeface="Aptos"/>
              </a:defRPr>
            </a:pPr>
            <a:r>
              <a:t>CONTROL BIOLÓGICO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943"/>
                </a:solidFill>
                <a:latin typeface="Aptos"/>
              </a:defRPr>
            </a:pPr>
            <a:r>
              <a:t>Estudio del control biológico del pulgón del sorgo en Valle Hermoso.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53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A70"/>
                </a:solidFill>
                <a:latin typeface="Aptos"/>
              </a:defRPr>
            </a:pPr>
            <a:r>
              <a:t>Jazmín Garza Sánchez · DCSAMA · 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8523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3943"/>
                </a:solidFill>
                <a:latin typeface="Aptos"/>
              </a:defRPr>
            </a:pPr>
            <a:r>
              <a:t>Lo que puedes explorar: Investigar alternativas para el manejo de plagas.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539496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6771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07D31"/>
                </a:solidFill>
                <a:latin typeface="Aptos"/>
              </a:defRPr>
            </a:pPr>
            <a:r>
              <a:t>SENSORES EN CÍTRICOS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01752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943"/>
                </a:solidFill>
                <a:latin typeface="Aptos"/>
              </a:defRPr>
            </a:pPr>
            <a:r>
              <a:t>Predicción y mapeo de nutrientes foliares y rendimiento de naranja con sensor multiespectral.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53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A70"/>
                </a:solidFill>
                <a:latin typeface="Aptos"/>
              </a:defRPr>
            </a:pPr>
            <a:r>
              <a:t>Pedro Paulo Gomes de Oliveira · DCSAMA ·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28523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3943"/>
                </a:solidFill>
                <a:latin typeface="Aptos"/>
              </a:defRPr>
            </a:pPr>
            <a:r>
              <a:t>Lo que puedes explorar: Vincular información de sensores con variables del cultivo.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Ciencias Ambientales: agua y contaminación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20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07D31"/>
                </a:solidFill>
                <a:latin typeface="Aptos"/>
              </a:defRPr>
            </a:pPr>
            <a:r>
              <a:t>MICROPLÁSTICOS EN EL RÍO CORONA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943"/>
                </a:solidFill>
                <a:latin typeface="Aptos"/>
              </a:defRPr>
            </a:pPr>
            <a:r>
              <a:t>Estudio de microplásticos en sedimentos y agua del río Corona, Tamaulipas.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53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A70"/>
                </a:solidFill>
                <a:latin typeface="Aptos"/>
              </a:defRPr>
            </a:pPr>
            <a:r>
              <a:t>Claudia Berenice Olazarán Santibáñez · MCSAMA ·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8523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3943"/>
                </a:solidFill>
                <a:latin typeface="Aptos"/>
              </a:defRPr>
            </a:pPr>
            <a:r>
              <a:t>Lo que puedes explorar: Investigar la contaminación en un entorno local.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539496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6771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07D31"/>
                </a:solidFill>
                <a:latin typeface="Aptos"/>
              </a:defRPr>
            </a:pPr>
            <a:r>
              <a:t>BIORREMEDIACIÓN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01752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943"/>
                </a:solidFill>
                <a:latin typeface="Aptos"/>
              </a:defRPr>
            </a:pPr>
            <a:r>
              <a:t>Hongos filamentosos con potencial para biorremediación de agua contaminada con petróleo.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53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A70"/>
                </a:solidFill>
                <a:latin typeface="Aptos"/>
              </a:defRPr>
            </a:pPr>
            <a:r>
              <a:t>Diana Laura Peraza Liñán · MCSAMA ·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28523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3943"/>
                </a:solidFill>
                <a:latin typeface="Aptos"/>
              </a:defRPr>
            </a:pPr>
            <a:r>
              <a:t>Lo que puedes explorar: Explorar procesos biológicos frente a contaminantes.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Ciencias Ambientales: territorio y clima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21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07D31"/>
                </a:solidFill>
                <a:latin typeface="Aptos"/>
              </a:defRPr>
            </a:pPr>
            <a:r>
              <a:t>SEQUÍAS DESDE EL ESPACIO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943"/>
                </a:solidFill>
                <a:latin typeface="Aptos"/>
              </a:defRPr>
            </a:pPr>
            <a:r>
              <a:t>Monitoreo y predicción de sequías con percepción remota, periodo de estudio 2000–2023, en Tamaulipas.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53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A70"/>
                </a:solidFill>
                <a:latin typeface="Aptos"/>
              </a:defRPr>
            </a:pPr>
            <a:r>
              <a:t>Víctor Hugo Domínguez Meza · MCSAMA ·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8523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3943"/>
                </a:solidFill>
                <a:latin typeface="Aptos"/>
              </a:defRPr>
            </a:pPr>
            <a:r>
              <a:t>Lo que puedes explorar: Relacionar información territorial y riesgos climáticos.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539496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6771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07D31"/>
                </a:solidFill>
                <a:latin typeface="Aptos"/>
              </a:defRPr>
            </a:pPr>
            <a:r>
              <a:t>RESERVA DE LA BIOSFERA EL CIELO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01752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943"/>
                </a:solidFill>
                <a:latin typeface="Aptos"/>
              </a:defRPr>
            </a:pPr>
            <a:r>
              <a:t>Monitoreo del cambio de uso de suelo mediante percepción remota.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53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A70"/>
                </a:solidFill>
                <a:latin typeface="Aptos"/>
              </a:defRPr>
            </a:pPr>
            <a:r>
              <a:t>Natalia Martínez de León · MCSAMA · 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28523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3943"/>
                </a:solidFill>
                <a:latin typeface="Aptos"/>
              </a:defRPr>
            </a:pPr>
            <a:r>
              <a:t>Lo que puedes explorar: Estudiar cambios del territorio en un área de conservación.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Tecnologías: aplicaciones para la vida diaria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22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07D31"/>
                </a:solidFill>
                <a:latin typeface="Aptos"/>
              </a:defRPr>
            </a:pPr>
            <a:r>
              <a:t>SALUD Y TECNOLOGÍA MÓVIL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943"/>
                </a:solidFill>
                <a:latin typeface="Aptos"/>
              </a:defRPr>
            </a:pPr>
            <a:r>
              <a:t>Diseño de un pastillero inteligente y su aplicación móvil para pacientes con enfermedades crónicas.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53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A70"/>
                </a:solidFill>
                <a:latin typeface="Aptos"/>
              </a:defRPr>
            </a:pPr>
            <a:r>
              <a:t>Juan Antonio Martínez Carranza · Especialidad · 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8523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3943"/>
                </a:solidFill>
                <a:latin typeface="Aptos"/>
              </a:defRPr>
            </a:pPr>
            <a:r>
              <a:t>Lo que puedes explorar: Integrar dispositivos y software alrededor de una necesidad.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539496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6771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07D31"/>
                </a:solidFill>
                <a:latin typeface="Aptos"/>
              </a:defRPr>
            </a:pPr>
            <a:r>
              <a:t>DATOS PARA EL CULTIVO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01752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943"/>
                </a:solidFill>
                <a:latin typeface="Aptos"/>
              </a:defRPr>
            </a:pPr>
            <a:r>
              <a:t>Aplicación móvil para la gestión de datos relacionados con el cultivo de maíz.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53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A70"/>
                </a:solidFill>
                <a:latin typeface="Aptos"/>
              </a:defRPr>
            </a:pPr>
            <a:r>
              <a:t>Samuel Ricardo López Rosales · Especialidad · 2019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28523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3943"/>
                </a:solidFill>
                <a:latin typeface="Aptos"/>
              </a:defRPr>
            </a:pPr>
            <a:r>
              <a:t>Lo que puedes explorar: Conectar desarrollo de software y agricultura.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Tecnologías: datos 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23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07D31"/>
                </a:solidFill>
                <a:latin typeface="Aptos"/>
              </a:defRPr>
            </a:pPr>
            <a:r>
              <a:t>COMPRENDER DOCUMENTOS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943"/>
                </a:solidFill>
                <a:latin typeface="Aptos"/>
              </a:defRPr>
            </a:pPr>
            <a:r>
              <a:t>Método para construir grafos de conocimiento a partir de documentos en español.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53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A70"/>
                </a:solidFill>
                <a:latin typeface="Aptos"/>
              </a:defRPr>
            </a:pPr>
            <a:r>
              <a:t>Andrea Gidalti García Pérez · MCID · ingreso 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8523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3943"/>
                </a:solidFill>
                <a:latin typeface="Aptos"/>
              </a:defRPr>
            </a:pPr>
            <a:r>
              <a:t>Lo que puedes explorar: Organizar conocimiento extraído de textos.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5394960" cy="4069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6771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07D31"/>
                </a:solidFill>
                <a:latin typeface="Aptos"/>
              </a:defRPr>
            </a:pPr>
            <a:r>
              <a:t>ANALIZAR SENTIMIENTOS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01752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943"/>
                </a:solidFill>
                <a:latin typeface="Aptos"/>
              </a:defRPr>
            </a:pPr>
            <a:r>
              <a:t>Modelo de inferencia basado en aprendizaje profundo para análisis de sentimientos.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5371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36A70"/>
                </a:solidFill>
                <a:latin typeface="Aptos"/>
              </a:defRPr>
            </a:pPr>
            <a:r>
              <a:t>Samuel Ricardo López Rosales · MCID · ingreso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285232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3943"/>
                </a:solidFill>
                <a:latin typeface="Aptos"/>
              </a:defRPr>
            </a:pPr>
            <a:r>
              <a:t>Lo que puedes explorar: Aplicar inteligencia artificial al procesamiento de información.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¿Qué programa se relaciona con tus intereses?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24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38528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38528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Aplicaciones móviles, comunicación inalámbrica y software seguro → Especialidad.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03804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03804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4388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Gestión de datos, algoritmos e inteligencia artificial → MCID.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69080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069080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69664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Investigación agropecuaria y ambiental desde la licenciatura → MCSAMA.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34356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134356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34940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Investigación original y liderazgo científico desde una maestría afín → DCSAMA.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Contactos y proceso de admisión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25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38528"/>
            <a:ext cx="11064240" cy="7333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38528"/>
            <a:ext cx="50292" cy="73334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10607040" cy="587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Especialidad: Dra. Tania Yukary Guerrero Meléndez · ext. 2141 · tyguerre@docentes.uat.edu.mx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90748"/>
            <a:ext cx="11064240" cy="7333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90748"/>
            <a:ext cx="50292" cy="73334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91332"/>
            <a:ext cx="10607040" cy="587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MCID: Dra. Ana Bertha Ríos Alvarado · ext. 2119 · arios@docentes.uat.edu.mx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42969"/>
            <a:ext cx="11064240" cy="7333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642969"/>
            <a:ext cx="50292" cy="73334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43553"/>
            <a:ext cx="10607040" cy="587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MCSAMA y DCSAMA: Dr. Benigno Estrada Drouaillet · ext. 2120 · benestrada@docentes.uat.edu.mx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95190"/>
            <a:ext cx="11064240" cy="7333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495190"/>
            <a:ext cx="50292" cy="73334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95774"/>
            <a:ext cx="10607040" cy="587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Teléfono común: (834) 318-17-18 · FIC, UAT, Campus Victoria.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347411"/>
            <a:ext cx="11064240" cy="7333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347411"/>
            <a:ext cx="50292" cy="733348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47995"/>
            <a:ext cx="10607040" cy="587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63943"/>
                </a:solidFill>
                <a:latin typeface="Aptos"/>
              </a:defRPr>
            </a:pPr>
            <a:r>
              <a:t>Consultar la convocatoria y el anexo de cada programa para fechas, documentos y selección.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36A70"/>
                </a:solidFill>
                <a:latin typeface="Aptos"/>
              </a:defRPr>
            </a:pPr>
            <a:r>
              <a:t>FIC · UAT   /   POSGRADOS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0642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943"/>
                </a:solidFill>
                <a:latin typeface="Aptos"/>
              </a:defRPr>
            </a:pPr>
            <a:r>
              <a:t>Fuentes para consultar y dar el siguiente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64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36A70"/>
                </a:solidFill>
                <a:latin typeface="Aptos"/>
              </a:defRPr>
            </a:pPr>
            <a:r>
              <a:t>TU SIGUIENTE PROYECTO PUEDE EMPEZAR AQUÍ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36A70"/>
                </a:solidFill>
                <a:latin typeface="Aptos"/>
              </a:defRPr>
            </a:pPr>
            <a:r>
              <a:t>26 / 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38528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38528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Programas y proyectos: cuatro páginas oficiales FIC–UAT aportadas en HTML.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03804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03804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4388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Becas: tabulador SECIHTI 2026 y términos para programas escolarizados.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69080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069080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69664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Consulta con la coordinación: tema de interés, admisión y elegibilidad para beca.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34356"/>
            <a:ext cx="11064240" cy="946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134356"/>
            <a:ext cx="50292" cy="946404"/>
          </a:xfrm>
          <a:prstGeom prst="rect">
            <a:avLst/>
          </a:prstGeom>
          <a:solidFill>
            <a:srgbClr val="B0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34940"/>
            <a:ext cx="1060704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63943"/>
                </a:solidFill>
                <a:latin typeface="Aptos"/>
              </a:defRPr>
            </a:pPr>
            <a:r>
              <a:t>Elige un problema que te importe y pregunta cómo investigarlo.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